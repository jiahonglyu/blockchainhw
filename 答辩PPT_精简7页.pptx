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2" r:id="rId5"/>
    <p:sldId id="273" r:id="rId6"/>
    <p:sldId id="274" r:id="rId7"/>
    <p:sldId id="275" r:id="rId8"/>
    <p:sldId id="276" r:id="rId9"/>
    <p:sldId id="277" r:id="rId10"/>
    <p:sldId id="278" r:id="rId11"/>
    <p:sldId id="271" r:id="rId1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老师好，这是基于以太坊智能合约的去中心化众筹系统，技术栈 Hardhat + ethers.js + MetaMask。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总结四点：去信任、透明、自动结算、安全。谢谢老师。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1264" y="868680"/>
            <a:ext cx="1097280" cy="1097280"/>
          </a:xfrm>
          <a:prstGeom prst="ellipse">
            <a:avLst/>
          </a:prstGeom>
          <a:solidFill>
            <a:srgbClr val="8B5CF6"/>
          </a:solidFill>
          <a:effectLst>
            <a:outerShdw blurRad="114300" dist="38100" dir="5400000" algn="bl" rotWithShape="0">
              <a:srgbClr val="6B7280">
                <a:alpha val="18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1115568"/>
            <a:ext cx="603504" cy="603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40280"/>
            <a:ext cx="112745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基于区块链的去中心化众筹系统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264408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ChainFund · 智能合约托管资金 · 去信任 · 自动放款 / 退款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093976" y="4069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2C256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93976" y="40690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项目创建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51376" y="4069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2C256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51376" y="40690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资金捐赠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08776" y="4069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2C256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08776" y="40690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到期结算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66176" y="4069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2C256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66176" y="406908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放款 / 退款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568198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吕佳鸿   10235501436   </a:t>
            </a: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146304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84048"/>
            <a:ext cx="1078992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937"/>
                </a:solidFill>
                <a:latin typeface="Calibri"/>
              </a:rPr>
              <a:t>项目背景与系统架构</a:t>
            </a:r>
            <a:endParaRPr sz="27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30352" y="1188720"/>
            <a:ext cx="5413248" cy="199339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316736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B91C1C"/>
                </a:solidFill>
                <a:latin typeface="Calibri"/>
              </a:rPr>
              <a:t>传统众筹的痛点</a:t>
            </a:r>
            <a:endParaRPr sz="1550" b="1">
              <a:solidFill>
                <a:srgbClr val="B91C1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49377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 b="0">
                <a:solidFill>
                  <a:srgbClr val="1F2937"/>
                </a:solidFill>
                <a:latin typeface="Calibri"/>
              </a:rPr>
              <a:t>依赖中心化平台托管资金</a:t>
            </a:r>
            <a:endParaRPr sz="12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 b="0">
                <a:solidFill>
                  <a:srgbClr val="1F2937"/>
                </a:solidFill>
                <a:latin typeface="Calibri"/>
              </a:rPr>
              <a:t>平台可挪用资金、单方决定退款</a:t>
            </a:r>
            <a:endParaRPr sz="12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 b="0">
                <a:solidFill>
                  <a:srgbClr val="1F2937"/>
                </a:solidFill>
                <a:latin typeface="Calibri"/>
              </a:rPr>
              <a:t>抽取手续费、信息不透明，用户必须信任第三方</a:t>
            </a:r>
            <a:endParaRPr sz="1200" b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99632" y="1188720"/>
            <a:ext cx="5413248" cy="199339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316736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047857"/>
                </a:solidFill>
                <a:latin typeface="Calibri"/>
              </a:rPr>
              <a:t>本项目的方案</a:t>
            </a:r>
            <a:endParaRPr sz="1550" b="1">
              <a:solidFill>
                <a:srgbClr val="04785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55664" y="1755648"/>
            <a:ext cx="49377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 b="0">
                <a:solidFill>
                  <a:srgbClr val="1F2937"/>
                </a:solidFill>
                <a:latin typeface="Calibri"/>
              </a:rPr>
              <a:t>智能合约托管资金，无需信任中介</a:t>
            </a:r>
            <a:endParaRPr sz="12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 b="0">
                <a:solidFill>
                  <a:srgbClr val="1F2937"/>
                </a:solidFill>
                <a:latin typeface="Calibri"/>
              </a:rPr>
              <a:t>规则写死在代码里、自动执行</a:t>
            </a:r>
            <a:endParaRPr sz="12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 b="0">
                <a:solidFill>
                  <a:srgbClr val="1F2937"/>
                </a:solidFill>
                <a:latin typeface="Calibri"/>
              </a:rPr>
              <a:t>达标自动放款、失败可退款</a:t>
            </a:r>
            <a:endParaRPr sz="12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 b="0">
                <a:solidFill>
                  <a:srgbClr val="1F2937"/>
                </a:solidFill>
                <a:latin typeface="Calibri"/>
              </a:rPr>
              <a:t>记录全部上链、公开可查、不可篡改</a:t>
            </a:r>
            <a:endParaRPr sz="1200" b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" y="3383280"/>
            <a:ext cx="56692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6B7280"/>
                </a:solidFill>
                <a:latin typeface="Calibri"/>
              </a:rPr>
              <a:t>系统架构 · 合约即“无需信任的托管方”</a:t>
            </a:r>
            <a:endParaRPr sz="1350" b="1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0352" y="3785615"/>
            <a:ext cx="5669280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 b="0">
                <a:solidFill>
                  <a:srgbClr val="1F2937"/>
                </a:solidFill>
                <a:latin typeface="Calibri"/>
              </a:rPr>
              <a:t>智能合约充当资金托管方，取代平台</a:t>
            </a:r>
            <a:endParaRPr sz="12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 b="0">
                <a:solidFill>
                  <a:srgbClr val="1F2937"/>
                </a:solidFill>
                <a:latin typeface="Calibri"/>
              </a:rPr>
              <a:t>捐款直接进合约，规则自动执行</a:t>
            </a:r>
            <a:endParaRPr sz="12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 b="0">
                <a:solidFill>
                  <a:srgbClr val="1F2937"/>
                </a:solidFill>
                <a:latin typeface="Calibri"/>
              </a:rPr>
              <a:t>到期结算：达标→发起人；未达标→捐赠者</a:t>
            </a:r>
            <a:endParaRPr sz="12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 b="0">
                <a:solidFill>
                  <a:srgbClr val="1F2937"/>
                </a:solidFill>
                <a:latin typeface="Calibri"/>
              </a:rPr>
              <a:t>三种状态构成状态机，功能=状态转移</a:t>
            </a:r>
            <a:endParaRPr sz="12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 b="0">
                <a:solidFill>
                  <a:srgbClr val="1F2937"/>
                </a:solidFill>
                <a:latin typeface="Calibri"/>
              </a:rPr>
              <a:t>前端只读 ABI+地址，私钥由 MetaMask 掌管</a:t>
            </a:r>
            <a:endParaRPr sz="1200" b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92240" y="3346704"/>
            <a:ext cx="5120640" cy="2194560"/>
          </a:xfrm>
          <a:prstGeom prst="roundRect">
            <a:avLst/>
          </a:prstGeom>
          <a:solidFill>
            <a:srgbClr val="F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438144"/>
            <a:ext cx="2743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状态机</a:t>
            </a:r>
            <a:endParaRPr sz="1200" b="1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75320" y="3822191"/>
            <a:ext cx="1691640" cy="5669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822191"/>
            <a:ext cx="169164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进行中</a:t>
            </a:r>
            <a:endParaRPr sz="13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66560" y="4736592"/>
            <a:ext cx="2103120" cy="56692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4736592"/>
            <a:ext cx="210312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成功 → 放款</a:t>
            </a:r>
            <a:endParaRPr sz="12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35440" y="4736592"/>
            <a:ext cx="2103120" cy="566928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4736592"/>
            <a:ext cx="210312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失败 → 退款</a:t>
            </a:r>
            <a:endParaRPr sz="12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6560" y="4443984"/>
            <a:ext cx="2103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Calibri"/>
              </a:rPr>
              <a:t>达标 ↙</a:t>
            </a:r>
            <a:endParaRPr sz="1050" b="1">
              <a:solidFill>
                <a:srgbClr val="059669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35440" y="4443984"/>
            <a:ext cx="2103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↘ 未达标</a:t>
            </a:r>
            <a:endParaRPr sz="1050" b="1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30352" y="5760720"/>
            <a:ext cx="2670048" cy="566928"/>
          </a:xfrm>
          <a:prstGeom prst="roundRect">
            <a:avLst/>
          </a:prstGeom>
          <a:solidFill>
            <a:srgbClr val="F4F5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760720"/>
            <a:ext cx="267004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Solidity 合约</a:t>
            </a:r>
            <a:endParaRPr sz="1250" b="1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310128" y="5760720"/>
            <a:ext cx="2670048" cy="566928"/>
          </a:xfrm>
          <a:prstGeom prst="roundRect">
            <a:avLst/>
          </a:prstGeom>
          <a:solidFill>
            <a:srgbClr val="F4F5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128" y="5760720"/>
            <a:ext cx="267004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Hardhat 部署/测试</a:t>
            </a:r>
            <a:endParaRPr sz="1250" b="1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089904" y="5760720"/>
            <a:ext cx="2670048" cy="566928"/>
          </a:xfrm>
          <a:prstGeom prst="roundRect">
            <a:avLst/>
          </a:prstGeom>
          <a:solidFill>
            <a:srgbClr val="F4F5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5760720"/>
            <a:ext cx="267004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ethers.js 前端</a:t>
            </a:r>
            <a:endParaRPr sz="1250" b="1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869680" y="5760720"/>
            <a:ext cx="2670048" cy="566928"/>
          </a:xfrm>
          <a:prstGeom prst="roundRect">
            <a:avLst/>
          </a:prstGeom>
          <a:solidFill>
            <a:srgbClr val="F4F5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5760720"/>
            <a:ext cx="267004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MetaMask 钱包</a:t>
            </a:r>
            <a:endParaRPr sz="1250" b="1">
              <a:solidFill>
                <a:srgbClr val="4F46E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146304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84048"/>
            <a:ext cx="1078992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937"/>
                </a:solidFill>
                <a:latin typeface="Calibri"/>
              </a:rPr>
              <a:t>关键机制 · 资金生命周期</a:t>
            </a:r>
            <a:endParaRPr sz="27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54864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6B7280"/>
                </a:solidFill>
                <a:latin typeface="Calibri"/>
              </a:rPr>
              <a:t>资金生命周期</a:t>
            </a:r>
            <a:endParaRPr sz="1350" b="1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30352" y="1444752"/>
            <a:ext cx="2121408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536192"/>
            <a:ext cx="212140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创建项目</a:t>
            </a:r>
            <a:endParaRPr sz="1200" b="1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0352" y="1920240"/>
            <a:ext cx="212140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分配唯一 ID</a:t>
            </a:r>
            <a:endParaRPr sz="10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33472" y="1627632"/>
            <a:ext cx="1828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94A3B8"/>
                </a:solidFill>
                <a:latin typeface="Calibri"/>
              </a:rPr>
              <a:t>›</a:t>
            </a:r>
            <a:endParaRPr sz="1600" b="1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98064" y="1444752"/>
            <a:ext cx="2121408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1536192"/>
            <a:ext cx="212140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资金捐赠</a:t>
            </a:r>
            <a:endParaRPr sz="1200" b="1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98064" y="1920240"/>
            <a:ext cx="212140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记录每人金额</a:t>
            </a:r>
            <a:endParaRPr sz="10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01184" y="1627632"/>
            <a:ext cx="1828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94A3B8"/>
                </a:solidFill>
                <a:latin typeface="Calibri"/>
              </a:rPr>
              <a:t>›</a:t>
            </a:r>
            <a:endParaRPr sz="1600" b="1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65776" y="1444752"/>
            <a:ext cx="2121408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65776" y="1536192"/>
            <a:ext cx="212140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结束结算</a:t>
            </a:r>
            <a:endParaRPr sz="1200" b="1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65776" y="1920240"/>
            <a:ext cx="212140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比目标定成败</a:t>
            </a:r>
            <a:endParaRPr sz="10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68896" y="1627632"/>
            <a:ext cx="1828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94A3B8"/>
                </a:solidFill>
                <a:latin typeface="Calibri"/>
              </a:rPr>
              <a:t>›</a:t>
            </a:r>
            <a:endParaRPr sz="1600" b="1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33488" y="1444752"/>
            <a:ext cx="2121408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8" y="1536192"/>
            <a:ext cx="212140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达标→成功→提取</a:t>
            </a:r>
            <a:endParaRPr sz="1200" b="1">
              <a:solidFill>
                <a:srgbClr val="059669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33488" y="1920240"/>
            <a:ext cx="212140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发起人取走</a:t>
            </a:r>
            <a:endParaRPr sz="10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36608" y="1627632"/>
            <a:ext cx="1828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94A3B8"/>
                </a:solidFill>
                <a:latin typeface="Calibri"/>
              </a:rPr>
              <a:t>›</a:t>
            </a:r>
            <a:endParaRPr sz="1600" b="1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601200" y="1444752"/>
            <a:ext cx="2121408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536192"/>
            <a:ext cx="212140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4A3B8"/>
                </a:solidFill>
                <a:latin typeface="Calibri"/>
              </a:rPr>
              <a:t>未达标→失败→退款</a:t>
            </a:r>
            <a:endParaRPr sz="1200" b="1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0" y="1920240"/>
            <a:ext cx="2121408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捐赠者取回</a:t>
            </a:r>
            <a:endParaRPr sz="10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352" y="2395728"/>
            <a:ext cx="1106424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到期后任何人都可触发结算；结果由合约确定、无法操纵——这就是去中心化、无需信任发起人。</a:t>
            </a:r>
            <a:endParaRPr sz="115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0352" y="2907792"/>
            <a:ext cx="54864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6B7280"/>
                </a:solidFill>
                <a:latin typeface="Calibri"/>
              </a:rPr>
              <a:t>智能合约关键机制</a:t>
            </a:r>
            <a:endParaRPr sz="1350" b="1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30352" y="3273552"/>
            <a:ext cx="2706624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383280"/>
            <a:ext cx="2432304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Courier New" panose="02070609020205020404"/>
              </a:rPr>
              <a:t>msg.sender / value</a:t>
            </a:r>
            <a:endParaRPr sz="1250" b="1">
              <a:solidFill>
                <a:srgbClr val="4F46E5"/>
              </a:solidFill>
              <a:latin typeface="Courier New" panose="020706090202050204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6656" y="3749039"/>
            <a:ext cx="2432304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调用者地址 / 随交易附带的 ETH</a:t>
            </a:r>
            <a:endParaRPr sz="105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346704" y="3273552"/>
            <a:ext cx="2706624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383280"/>
            <a:ext cx="2432304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Courier New" panose="02070609020205020404"/>
              </a:rPr>
              <a:t>payable</a:t>
            </a:r>
            <a:endParaRPr sz="1250" b="1">
              <a:solidFill>
                <a:srgbClr val="4F46E5"/>
              </a:solidFill>
              <a:latin typeface="Courier New" panose="020706090202050204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493008" y="3749039"/>
            <a:ext cx="2432304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函数可接收 ETH（donate 收款）</a:t>
            </a:r>
            <a:endParaRPr sz="105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63056" y="3273552"/>
            <a:ext cx="2706624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383280"/>
            <a:ext cx="2432304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Courier New" panose="02070609020205020404"/>
              </a:rPr>
              <a:t>mapping / storage</a:t>
            </a:r>
            <a:endParaRPr sz="1250" b="1">
              <a:solidFill>
                <a:srgbClr val="4F46E5"/>
              </a:solidFill>
              <a:latin typeface="Courier New" panose="020706090202050204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09360" y="3749039"/>
            <a:ext cx="2432304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链上键值存储，数据永久上链</a:t>
            </a:r>
            <a:endParaRPr sz="105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979408" y="3273552"/>
            <a:ext cx="2706624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25712" y="3383280"/>
            <a:ext cx="2432304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Courier New" panose="02070609020205020404"/>
              </a:rPr>
              <a:t>block.timestamp</a:t>
            </a:r>
            <a:endParaRPr sz="1250" b="1">
              <a:solidFill>
                <a:srgbClr val="4F46E5"/>
              </a:solidFill>
              <a:latin typeface="Courier New" panose="020706090202050204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25712" y="3749039"/>
            <a:ext cx="2432304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区块时间，作截止与结算判定</a:t>
            </a:r>
            <a:endParaRPr sz="105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30352" y="4352544"/>
            <a:ext cx="2706624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4462272"/>
            <a:ext cx="2432304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Courier New" panose="02070609020205020404"/>
              </a:rPr>
              <a:t>require / revert</a:t>
            </a:r>
            <a:endParaRPr sz="1250" b="1">
              <a:solidFill>
                <a:srgbClr val="4F46E5"/>
              </a:solidFill>
              <a:latin typeface="Courier New" panose="020706090202050204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76656" y="4828031"/>
            <a:ext cx="2432304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校验不通过则回滚整笔交易</a:t>
            </a:r>
            <a:endParaRPr sz="105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346704" y="4352544"/>
            <a:ext cx="2706624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93008" y="4462272"/>
            <a:ext cx="2432304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Courier New" panose="02070609020205020404"/>
              </a:rPr>
              <a:t>event / emit</a:t>
            </a:r>
            <a:endParaRPr sz="1250" b="1">
              <a:solidFill>
                <a:srgbClr val="4F46E5"/>
              </a:solidFill>
              <a:latin typeface="Courier New" panose="020706090202050204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493008" y="4828031"/>
            <a:ext cx="2432304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事件日志，供前端订阅刷新</a:t>
            </a:r>
            <a:endParaRPr sz="105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63056" y="4352544"/>
            <a:ext cx="2706624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462272"/>
            <a:ext cx="2432304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Courier New" panose="02070609020205020404"/>
              </a:rPr>
              <a:t>modifier</a:t>
            </a:r>
            <a:endParaRPr sz="1250" b="1">
              <a:solidFill>
                <a:srgbClr val="4F46E5"/>
              </a:solidFill>
              <a:latin typeface="Courier New" panose="020706090202050204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309360" y="4828031"/>
            <a:ext cx="2432304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可复用前置检查（noReentrant）</a:t>
            </a:r>
            <a:endParaRPr sz="105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979408" y="4352544"/>
            <a:ext cx="2706624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25712" y="4462272"/>
            <a:ext cx="2432304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Courier New" panose="02070609020205020404"/>
              </a:rPr>
              <a:t>call{value:}</a:t>
            </a:r>
            <a:endParaRPr sz="1250" b="1">
              <a:solidFill>
                <a:srgbClr val="4F46E5"/>
              </a:solidFill>
              <a:latin typeface="Courier New" panose="020706090202050204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25712" y="4828031"/>
            <a:ext cx="2432304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底层转账，发放放款 / 退款</a:t>
            </a:r>
            <a:endParaRPr sz="105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0352" y="5797296"/>
            <a:ext cx="110642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730A3"/>
                </a:solidFill>
                <a:latin typeface="Calibri"/>
              </a:rPr>
              <a:t>这些机制共同构成合约的执行模型：链上存储 + 调用上下文 + 时间 + 事件 + 校验回滚 + 底层转账。</a:t>
            </a:r>
            <a:endParaRPr sz="1200" b="1">
              <a:solidFill>
                <a:srgbClr val="3730A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146304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84048"/>
            <a:ext cx="1078992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937"/>
                </a:solidFill>
                <a:latin typeface="Calibri"/>
              </a:rPr>
              <a:t>五个基本功能（一）　创建 · 捐赠</a:t>
            </a:r>
            <a:endParaRPr sz="27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384048" cy="38404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①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6" y="1060704"/>
            <a:ext cx="4946904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项目创建</a:t>
            </a:r>
            <a:endParaRPr sz="17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591056"/>
            <a:ext cx="5440680" cy="1517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用 Project 结构体存名称/描述/目标/截止时间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所有项目存进数组，下标 = 自增唯一 ID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截止时间 = block.timestamp + 持续时长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校验目标 &gt; 0、时长 &gt; 0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触发 ProjectCreated 事件供前端监听</a:t>
            </a:r>
            <a:endParaRPr sz="1100" b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3127248"/>
            <a:ext cx="5440680" cy="2432304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255264"/>
            <a:ext cx="5129784" cy="21762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struct Project {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uint id; address creator;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uint goal; uint deadline;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uint totalRaised; State state;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}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function createProject(...,uint dur){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require(goal&gt;0 &amp;&amp; dur&gt;0);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uint id = projects.length; //唯一ID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projects.push(Project({ id:id,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  deadline: block.timestamp+dur,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  state: Active, ... }));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emit ProjectCreated(id,msg.sender);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}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5650992"/>
            <a:ext cx="5440680" cy="676656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5824728"/>
            <a:ext cx="960120" cy="3383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5824728"/>
            <a:ext cx="960120" cy="3383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关键点</a:t>
            </a:r>
            <a:endParaRPr sz="11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28216" y="5650992"/>
            <a:ext cx="406908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数组只增不删 + 交易串行 → ID 单调递增、绝不重复</a:t>
            </a:r>
            <a:endParaRPr sz="1200" b="1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99632" y="1078992"/>
            <a:ext cx="384048" cy="38404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078992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②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93408" y="1060704"/>
            <a:ext cx="4946904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资金捐赠</a:t>
            </a:r>
            <a:endParaRPr sz="17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99632" y="1591056"/>
            <a:ext cx="5440680" cy="1517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payable 函数，随交易把 ETH 打进合约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contributions[id][addr] 记录每人累计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三重校验：进行中、未过期、金额&gt;0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更新项目已筹总额 totalRaised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首次捐赠登记到捐赠者列表（去重）</a:t>
            </a:r>
            <a:endParaRPr sz="1100" b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99632" y="3127248"/>
            <a:ext cx="5440680" cy="2432304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3255264"/>
            <a:ext cx="5129784" cy="21762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mapping(uint=&gt;mapping(address=&gt;uint))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  public contributions;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function donate(uint id) external payable{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Project storage p = projects[id];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require(p.state==Active);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require(block.timestamp&lt;p.deadline);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require(msg.value&gt;0);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if(contributions[id][msg.sender]==0)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  donors[id].push(msg.sender);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contributions[id][msg.sender]+=msg.value;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p.totalRaised += msg.value;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emit Donated(id,msg.sender,msg.value);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}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99632" y="5650992"/>
            <a:ext cx="5440680" cy="676656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64224" y="5824728"/>
            <a:ext cx="960120" cy="33832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5824728"/>
            <a:ext cx="960120" cy="3383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关键点</a:t>
            </a:r>
            <a:endParaRPr sz="11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24928" y="5650992"/>
            <a:ext cx="406908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资金转入合约托管；个人额与总额同步上链可查</a:t>
            </a:r>
            <a:endParaRPr sz="1200" b="1">
              <a:solidFill>
                <a:srgbClr val="05966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146304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84048"/>
            <a:ext cx="1078992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937"/>
                </a:solidFill>
                <a:latin typeface="Calibri"/>
              </a:rPr>
              <a:t>五个基本功能（二）　结算 · 放款</a:t>
            </a:r>
            <a:endParaRPr sz="27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384048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③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6" y="1060704"/>
            <a:ext cx="4946904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结束结算</a:t>
            </a:r>
            <a:endParaRPr sz="17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591056"/>
            <a:ext cx="5440680" cy="1517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基于截止时间，到期后任何人可调用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体现去中心化：不依赖发起人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比较已筹与目标 → 成功 / 失败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只改状态、不转账（判断与取款分离）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触发 ProjectFinalized 事件</a:t>
            </a:r>
            <a:endParaRPr sz="1100" b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3127248"/>
            <a:ext cx="5440680" cy="2432304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255264"/>
            <a:ext cx="5129784" cy="21762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// 到期后任何人都可调用，无需发起人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function finalize(uint id) external {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Project storage p = projects[id];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require(p.state==Active, "已结算");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require(block.timestamp&gt;=p.deadline);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p.state = p.totalRaised&gt;=p.goal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  ? State.Successful   // 达标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  : State.Failed;      // 未达标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emit ProjectFinalized(id, p.state);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}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5650992"/>
            <a:ext cx="5440680" cy="676656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5824728"/>
            <a:ext cx="960120" cy="3383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5824728"/>
            <a:ext cx="960120" cy="3383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关键点</a:t>
            </a:r>
            <a:endParaRPr sz="11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28216" y="5650992"/>
            <a:ext cx="406908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任何人可触发、结果由代码决定——去中心化最关键体现</a:t>
            </a:r>
            <a:endParaRPr sz="1200" b="1">
              <a:solidFill>
                <a:srgbClr val="D97706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99632" y="1078992"/>
            <a:ext cx="384048" cy="38404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078992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④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93408" y="1060704"/>
            <a:ext cx="4946904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达标放款</a:t>
            </a:r>
            <a:endParaRPr sz="17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99632" y="1591056"/>
            <a:ext cx="5440680" cy="1517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项目成功后由发起人提取资金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双重校验：状态为成功 + 调用者是发起人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用 call 把合约托管资金转给发起人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提取后记账，防止重复提款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加 noReentrant 重入锁保护</a:t>
            </a:r>
            <a:endParaRPr sz="1100" b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99632" y="3127248"/>
            <a:ext cx="5440680" cy="2432304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3255264"/>
            <a:ext cx="5129784" cy="21762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function withdraw(uint id) external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  noReentrant {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Project storage p = projects[id];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require(p.state==Successful,"未成功");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require(msg.sender==p.creator,"非发起人");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uint amount = p.totalRaised;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p.released  = amount;        // 先记账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(bool ok,) =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  p.creator.call{value:amount}("");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require(ok, "转账失败");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}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99632" y="5650992"/>
            <a:ext cx="5440680" cy="676656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64224" y="5824728"/>
            <a:ext cx="960120" cy="3383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5824728"/>
            <a:ext cx="960120" cy="3383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关键点</a:t>
            </a:r>
            <a:endParaRPr sz="11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24928" y="5650992"/>
            <a:ext cx="406908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B5CF6"/>
                </a:solidFill>
                <a:latin typeface="Calibri"/>
              </a:rPr>
              <a:t>双重权限校验 + 先记账后转账，只有发起人成功后可取</a:t>
            </a:r>
            <a:endParaRPr sz="1200" b="1">
              <a:solidFill>
                <a:srgbClr val="8B5CF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146304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84048"/>
            <a:ext cx="1078992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937"/>
                </a:solidFill>
                <a:latin typeface="Calibri"/>
              </a:rPr>
              <a:t>失败退款（功能⑤）· 智能合约安全设计</a:t>
            </a:r>
            <a:endParaRPr sz="27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384048" cy="384048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⑤</a:t>
            </a:r>
            <a:endParaRPr sz="1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6" y="1060704"/>
            <a:ext cx="4946904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失败退款</a:t>
            </a:r>
            <a:endParaRPr sz="17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591056"/>
            <a:ext cx="5440680" cy="15179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项目失败后捐赠者各自取回捐款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校验：状态为失败、本人有捐赠余额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关键：先把记录清零，再转账（CEI）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配合 noReentrant 重入锁双重防护</a:t>
            </a:r>
            <a:endParaRPr sz="110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 b="0">
                <a:solidFill>
                  <a:srgbClr val="1F2937"/>
                </a:solidFill>
                <a:latin typeface="Calibri"/>
              </a:rPr>
              <a:t>呼应 lab8 的重入攻击实验</a:t>
            </a:r>
            <a:endParaRPr sz="1100" b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3127248"/>
            <a:ext cx="5440680" cy="2432304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255264"/>
            <a:ext cx="5129784" cy="21762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function refund(uint id) external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  noReentrant {          // 重入锁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Project storage p = projects[id];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require(p.state==Failed, "未失败");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uint amt=contributions[id][msg.sender];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require(amt&gt;0, "无捐赠");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contributions[id][msg.sender]=0;//①清零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(bool ok,)=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  msg.sender.call{value:amt}("");//②转账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require(ok, "退款失败");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  emit Refunded(id, msg.sender, amt);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urier New" panose="02070609020205020404"/>
              </a:rPr>
              <a:t>}</a:t>
            </a:r>
            <a:endParaRPr sz="850" b="0">
              <a:solidFill>
                <a:srgbClr val="E2E8F0"/>
              </a:solidFill>
              <a:latin typeface="Courier New" panose="020706090202050204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5650992"/>
            <a:ext cx="5440680" cy="676656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5824728"/>
            <a:ext cx="960120" cy="338328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5824728"/>
            <a:ext cx="960120" cy="3383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关键点</a:t>
            </a:r>
            <a:endParaRPr sz="11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28216" y="5650992"/>
            <a:ext cx="406908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11D48"/>
                </a:solidFill>
                <a:latin typeface="Calibri"/>
              </a:rPr>
              <a:t>清零在前、转账在后（CEI）+ 互斥锁，攻击者再入也无款可取</a:t>
            </a:r>
            <a:endParaRPr sz="1200" b="1">
              <a:solidFill>
                <a:srgbClr val="E11D48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99632" y="1119695"/>
            <a:ext cx="5440680" cy="2660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智能合约安全设计</a:t>
            </a:r>
            <a:r>
              <a:rPr lang="en-US" sz="1500" b="1">
                <a:solidFill>
                  <a:srgbClr val="1F2937"/>
                </a:solidFill>
                <a:latin typeface="Calibri"/>
              </a:rPr>
              <a:t> </a:t>
            </a:r>
            <a:endParaRPr lang="zh-CN" altLang="en-US" sz="15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99632" y="1517904"/>
            <a:ext cx="267004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64224" y="1682495"/>
            <a:ext cx="402336" cy="402336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682495"/>
            <a:ext cx="402336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0" y="1664207"/>
            <a:ext cx="1892807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CEI 模式</a:t>
            </a:r>
            <a:endParaRPr sz="12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82512" y="2121408"/>
            <a:ext cx="2340864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先校验→改状态→转账，杜绝重入</a:t>
            </a:r>
            <a:endParaRPr sz="10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970264" y="1517904"/>
            <a:ext cx="267004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34856" y="1682495"/>
            <a:ext cx="402336" cy="402336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1682495"/>
            <a:ext cx="402336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28632" y="1664207"/>
            <a:ext cx="1892807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重入锁 noReentrant</a:t>
            </a:r>
            <a:endParaRPr sz="12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53144" y="2121408"/>
            <a:ext cx="2340864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互斥锁防转账回调中递归重入</a:t>
            </a:r>
            <a:endParaRPr sz="10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199632" y="2816352"/>
            <a:ext cx="267004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64224" y="2980944"/>
            <a:ext cx="402336" cy="40233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2980944"/>
            <a:ext cx="402336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58000" y="2962656"/>
            <a:ext cx="1892807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权限控制</a:t>
            </a:r>
            <a:endParaRPr sz="12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82512" y="3419856"/>
            <a:ext cx="2340864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require(sender==creator) 限操作者</a:t>
            </a:r>
            <a:endParaRPr sz="10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970264" y="2816352"/>
            <a:ext cx="267004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34856" y="2980944"/>
            <a:ext cx="402336" cy="402336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4856" y="2980944"/>
            <a:ext cx="402336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628632" y="2962656"/>
            <a:ext cx="1892807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失败回滚（原子性）</a:t>
            </a:r>
            <a:endParaRPr sz="12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53144" y="3419856"/>
            <a:ext cx="2340864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require 不满足整笔回滚、不丢钱</a:t>
            </a:r>
            <a:endParaRPr sz="10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199632" y="4114800"/>
            <a:ext cx="267004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64224" y="4279392"/>
            <a:ext cx="402336" cy="40233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4279392"/>
            <a:ext cx="402336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58000" y="4261104"/>
            <a:ext cx="1892807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整数溢出保护</a:t>
            </a:r>
            <a:endParaRPr sz="12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82512" y="4718304"/>
            <a:ext cx="2340864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Solidity 0.8 内置检查，免 SafeMath</a:t>
            </a:r>
            <a:endParaRPr sz="10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970264" y="4114800"/>
            <a:ext cx="267004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34856" y="427939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4856" y="4279392"/>
            <a:ext cx="402336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628632" y="4261104"/>
            <a:ext cx="1892807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拉取式付款 Pull</a:t>
            </a:r>
            <a:endParaRPr sz="12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153144" y="4718304"/>
            <a:ext cx="2340864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各自取款而非批量推送，隔离失败</a:t>
            </a:r>
            <a:endParaRPr sz="10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199632" y="5742432"/>
            <a:ext cx="54406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11D48"/>
                </a:solidFill>
                <a:latin typeface="Calibri"/>
              </a:rPr>
              <a:t>安全是智能合约的生命线——资金一旦上链，漏洞无法回滚。</a:t>
            </a:r>
            <a:endParaRPr sz="1100" b="1">
              <a:solidFill>
                <a:srgbClr val="E11D4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146304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84048"/>
            <a:ext cx="1078992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937"/>
                </a:solidFill>
                <a:latin typeface="Calibri"/>
              </a:rPr>
              <a:t>前端交互 · 测试与部署</a:t>
            </a:r>
            <a:endParaRPr sz="27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329184" cy="329184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042415"/>
            <a:ext cx="502920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前端与交互</a:t>
            </a:r>
            <a:endParaRPr sz="15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534924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</a:t>
            </a:r>
            <a:r>
              <a:rPr sz="1150" b="0">
                <a:solidFill>
                  <a:srgbClr val="1F2937"/>
                </a:solidFill>
                <a:latin typeface="Calibri"/>
              </a:rPr>
              <a:t>ethers.js 读取合约 ABI + 部署地址，封装为按钮</a:t>
            </a:r>
            <a:endParaRPr sz="115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</a:t>
            </a:r>
            <a:r>
              <a:rPr sz="1150" b="0">
                <a:solidFill>
                  <a:srgbClr val="1F2937"/>
                </a:solidFill>
                <a:latin typeface="Calibri"/>
              </a:rPr>
              <a:t>MetaMask 负责账户管理与交易签名</a:t>
            </a:r>
            <a:endParaRPr sz="115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</a:t>
            </a:r>
            <a:r>
              <a:rPr sz="1150" b="0">
                <a:solidFill>
                  <a:srgbClr val="1F2937"/>
                </a:solidFill>
                <a:latin typeface="Calibri"/>
              </a:rPr>
              <a:t>读数据免费即时；写操作=合约交互（签名+gas）</a:t>
            </a:r>
            <a:endParaRPr sz="115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</a:t>
            </a:r>
            <a:r>
              <a:rPr sz="1150" b="0">
                <a:solidFill>
                  <a:srgbClr val="1F2937"/>
                </a:solidFill>
                <a:latin typeface="Calibri"/>
              </a:rPr>
              <a:t>监听合约事件，前端实时更新（事件驱动）</a:t>
            </a:r>
            <a:endParaRPr sz="115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</a:t>
            </a:r>
            <a:r>
              <a:rPr sz="1150" b="0">
                <a:solidFill>
                  <a:srgbClr val="1F2937"/>
                </a:solidFill>
                <a:latin typeface="Calibri"/>
              </a:rPr>
              <a:t>前端只读、不持私钥，签名权在用户钱包</a:t>
            </a:r>
            <a:endParaRPr sz="1150" b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3703320"/>
            <a:ext cx="5349240" cy="566928"/>
          </a:xfrm>
          <a:prstGeom prst="roundRect">
            <a:avLst/>
          </a:prstGeom>
          <a:solidFill>
            <a:srgbClr val="F4F5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534924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浏览器前端 (dapp.js)</a:t>
            </a:r>
            <a:endParaRPr sz="1300" b="1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4233672"/>
            <a:ext cx="53492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4A3B8"/>
                </a:solidFill>
                <a:latin typeface="Calibri"/>
              </a:rPr>
              <a:t>↓</a:t>
            </a:r>
            <a:endParaRPr sz="1300" b="1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4416552"/>
            <a:ext cx="5349240" cy="566928"/>
          </a:xfrm>
          <a:prstGeom prst="roundRect">
            <a:avLst/>
          </a:prstGeom>
          <a:solidFill>
            <a:srgbClr val="F4F5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416552"/>
            <a:ext cx="534924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MetaMask 签名/账户</a:t>
            </a:r>
            <a:endParaRPr sz="1300" b="1">
              <a:solidFill>
                <a:srgbClr val="8B5CF6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4946904"/>
            <a:ext cx="53492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4A3B8"/>
                </a:solidFill>
                <a:latin typeface="Calibri"/>
              </a:rPr>
              <a:t>↓</a:t>
            </a:r>
            <a:endParaRPr sz="1300" b="1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5129783"/>
            <a:ext cx="5349240" cy="566928"/>
          </a:xfrm>
          <a:prstGeom prst="roundRect">
            <a:avLst/>
          </a:prstGeom>
          <a:solidFill>
            <a:srgbClr val="F4F5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129783"/>
            <a:ext cx="534924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区块链 · 众筹合约</a:t>
            </a:r>
            <a:endParaRPr sz="1300" b="1">
              <a:solidFill>
                <a:srgbClr val="059669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5907024"/>
            <a:ext cx="53492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读取 / 监听事件 → 实时刷新</a:t>
            </a:r>
            <a:endParaRPr sz="11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99632" y="1078992"/>
            <a:ext cx="329184" cy="329184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110551"/>
            <a:ext cx="5029200" cy="2660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测试与部署</a:t>
            </a:r>
            <a:r>
              <a:rPr lang="en-US" sz="1500" b="1">
                <a:solidFill>
                  <a:srgbClr val="1F2937"/>
                </a:solidFill>
                <a:latin typeface="Calibri"/>
              </a:rPr>
              <a:t> 17</a:t>
            </a:r>
            <a:r>
              <a:rPr lang="zh-CN" altLang="en-US" sz="1500" b="1">
                <a:solidFill>
                  <a:srgbClr val="1F2937"/>
                </a:solidFill>
                <a:latin typeface="Calibri"/>
              </a:rPr>
              <a:t>个测试全部</a:t>
            </a:r>
            <a:r>
              <a:rPr lang="zh-CN" altLang="en-US" sz="1500" b="1">
                <a:solidFill>
                  <a:srgbClr val="1F2937"/>
                </a:solidFill>
                <a:latin typeface="Calibri"/>
              </a:rPr>
              <a:t>通过</a:t>
            </a:r>
            <a:endParaRPr lang="zh-CN" altLang="en-US" sz="15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9632" y="1591056"/>
            <a:ext cx="5440680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</a:t>
            </a:r>
            <a:r>
              <a:rPr sz="1150" b="0">
                <a:solidFill>
                  <a:srgbClr val="1F2937"/>
                </a:solidFill>
                <a:latin typeface="Calibri"/>
              </a:rPr>
              <a:t>Hardhat 单元测试覆盖五个核心功能</a:t>
            </a:r>
            <a:endParaRPr sz="115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</a:t>
            </a:r>
            <a:r>
              <a:rPr sz="1150" b="0">
                <a:solidFill>
                  <a:srgbClr val="1F2937"/>
                </a:solidFill>
                <a:latin typeface="Calibri"/>
              </a:rPr>
              <a:t>用时间快进模拟项目到期场景</a:t>
            </a:r>
            <a:endParaRPr sz="115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</a:t>
            </a:r>
            <a:r>
              <a:rPr sz="1150" b="0">
                <a:solidFill>
                  <a:srgbClr val="1F2937"/>
                </a:solidFill>
                <a:latin typeface="Calibri"/>
              </a:rPr>
              <a:t>Ignition 一键部署到本地链</a:t>
            </a:r>
            <a:endParaRPr sz="115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</a:t>
            </a:r>
            <a:r>
              <a:rPr sz="1150" b="0">
                <a:solidFill>
                  <a:srgbClr val="1F2937"/>
                </a:solidFill>
                <a:latin typeface="Calibri"/>
              </a:rPr>
              <a:t>兼容 Hardhat 内置节点与 Ganache</a:t>
            </a:r>
            <a:endParaRPr sz="1150" b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•  </a:t>
            </a:r>
            <a:r>
              <a:rPr sz="1150" b="0">
                <a:solidFill>
                  <a:srgbClr val="1F2937"/>
                </a:solidFill>
                <a:latin typeface="Calibri"/>
              </a:rPr>
              <a:t>部署地址自动写入，前端按 chainId 读取</a:t>
            </a:r>
            <a:endParaRPr sz="1150" b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99632" y="3611880"/>
            <a:ext cx="5440680" cy="26974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3739896"/>
            <a:ext cx="5129784" cy="2441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urier New" panose="02070609020205020404"/>
              </a:rPr>
              <a:t>$ npx hardhat test</a:t>
            </a:r>
            <a:endParaRPr sz="9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urier New" panose="02070609020205020404"/>
              </a:rPr>
              <a:t> </a:t>
            </a:r>
            <a:endParaRPr sz="9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urier New" panose="02070609020205020404"/>
              </a:rPr>
              <a:t>  Crowdfunding</a:t>
            </a:r>
            <a:endParaRPr sz="9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urier New" panose="02070609020205020404"/>
              </a:rPr>
              <a:t>    // ✔ 创建项目并分配唯一 ID</a:t>
            </a:r>
            <a:endParaRPr sz="9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urier New" panose="02070609020205020404"/>
              </a:rPr>
              <a:t>    // ✔ 捐赠累计并记录捐赠者</a:t>
            </a:r>
            <a:endParaRPr sz="9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urier New" panose="02070609020205020404"/>
              </a:rPr>
              <a:t>    // ✔ 到期结算 成功 / 失败</a:t>
            </a:r>
            <a:endParaRPr sz="9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urier New" panose="02070609020205020404"/>
              </a:rPr>
              <a:t>    // ✔ 成功后发起人提款</a:t>
            </a:r>
            <a:endParaRPr sz="9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urier New" panose="02070609020205020404"/>
              </a:rPr>
              <a:t>    // ✔ 失败后捐赠者退款</a:t>
            </a:r>
            <a:endParaRPr sz="9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urier New" panose="02070609020205020404"/>
              </a:rPr>
              <a:t>  // 单元测试全部通过</a:t>
            </a:r>
            <a:endParaRPr sz="9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urier New" panose="02070609020205020404"/>
              </a:rPr>
              <a:t> </a:t>
            </a:r>
            <a:endParaRPr sz="9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urier New" panose="02070609020205020404"/>
              </a:rPr>
              <a:t>$ hardhat ignition deploy --reset</a:t>
            </a:r>
            <a:endParaRPr sz="950" b="0">
              <a:solidFill>
                <a:srgbClr val="E2E8F0"/>
              </a:solidFill>
              <a:latin typeface="Courier New" panose="020706090202050204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urier New" panose="02070609020205020404"/>
              </a:rPr>
              <a:t>  // 合约部署到本地链 ✔</a:t>
            </a:r>
            <a:endParaRPr sz="950" b="0">
              <a:solidFill>
                <a:srgbClr val="E2E8F0"/>
              </a:solidFill>
              <a:latin typeface="Courier New" panose="020706090202050204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146304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84048"/>
            <a:ext cx="1078992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1F2937"/>
                </a:solidFill>
                <a:latin typeface="Calibri"/>
              </a:rPr>
              <a:t>加分项 · 功能扩展（选讲）</a:t>
            </a:r>
            <a:endParaRPr sz="27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30352" y="1417320"/>
            <a:ext cx="361188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109728" cy="17556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1673352"/>
            <a:ext cx="548640" cy="5486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73352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★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99616" y="1691640"/>
            <a:ext cx="25146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里程碑分期释放</a:t>
            </a:r>
            <a:endParaRPr sz="15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7" y="2386584"/>
            <a:ext cx="3063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按目标完成度分阶段释放资金</a:t>
            </a:r>
            <a:endParaRPr sz="12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61104" y="1417320"/>
            <a:ext cx="361188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1104" y="1417320"/>
            <a:ext cx="109728" cy="17556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35424" y="1673352"/>
            <a:ext cx="548640" cy="5486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673352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★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30368" y="1691640"/>
            <a:ext cx="25146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未释放部分退款</a:t>
            </a:r>
            <a:endParaRPr sz="15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2386584"/>
            <a:ext cx="3063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解决与全额退款冲突，按比例退还</a:t>
            </a:r>
            <a:endParaRPr sz="12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991856" y="1417320"/>
            <a:ext cx="361188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1417320"/>
            <a:ext cx="109728" cy="17556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6176" y="1673352"/>
            <a:ext cx="548640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673352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★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61120" y="1691640"/>
            <a:ext cx="25146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捐赠者投票治理 DAO</a:t>
            </a:r>
            <a:endParaRPr sz="15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02752" y="2386584"/>
            <a:ext cx="3063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出资权重链上投票，过半才放款</a:t>
            </a:r>
            <a:endParaRPr sz="12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30352" y="3319272"/>
            <a:ext cx="361188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" y="3319272"/>
            <a:ext cx="109728" cy="17556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1" y="3575304"/>
            <a:ext cx="548640" cy="5486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" y="3575304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★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99616" y="3593591"/>
            <a:ext cx="25146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ERC-20 奖励代币</a:t>
            </a:r>
            <a:endParaRPr sz="15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1247" y="4288536"/>
            <a:ext cx="3063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捐赠自动获得 BACK 感谢代币</a:t>
            </a:r>
            <a:endParaRPr sz="12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261104" y="3319272"/>
            <a:ext cx="361188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61104" y="3319272"/>
            <a:ext cx="109728" cy="175564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35424" y="3575304"/>
            <a:ext cx="54864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35424" y="3575304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★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30368" y="3593591"/>
            <a:ext cx="25146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ERC-721 早鸟徽章</a:t>
            </a:r>
            <a:endParaRPr sz="15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0" y="4288536"/>
            <a:ext cx="3063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前 10 名获链上唯一 NFT 徽章</a:t>
            </a:r>
            <a:endParaRPr sz="12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991856" y="3319272"/>
            <a:ext cx="361188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91856" y="3319272"/>
            <a:ext cx="109728" cy="17556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66176" y="3575304"/>
            <a:ext cx="548640" cy="548640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6" y="3575304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★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61120" y="3593591"/>
            <a:ext cx="25146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重入攻击防御</a:t>
            </a:r>
            <a:endParaRPr sz="1500" b="1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02752" y="4288536"/>
            <a:ext cx="30632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攻击合约 + 测试验证 CEI 有效</a:t>
            </a:r>
            <a:endParaRPr sz="12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0352" y="5779008"/>
            <a:ext cx="110642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730A3"/>
                </a:solidFill>
                <a:latin typeface="Calibri"/>
              </a:rPr>
              <a:t>另含 Hardhat 命令行任务、Gas 用量报告、链上事件实时动态流、深色模式等工程化扩展。</a:t>
            </a:r>
            <a:endParaRPr sz="1200" b="1">
              <a:solidFill>
                <a:srgbClr val="3730A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总结与技术亮点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68680" y="13258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2C2566"/>
          </a:solidFill>
        </p:spPr>
      </p:sp>
      <p:sp>
        <p:nvSpPr>
          <p:cNvPr id="4" name="Shape 2"/>
          <p:cNvSpPr/>
          <p:nvPr/>
        </p:nvSpPr>
        <p:spPr>
          <a:xfrm>
            <a:off x="1097280" y="1623060"/>
            <a:ext cx="822960" cy="822960"/>
          </a:xfrm>
          <a:prstGeom prst="ellipse">
            <a:avLst/>
          </a:prstGeom>
          <a:solidFill>
            <a:srgbClr val="8B5CF6"/>
          </a:solidFill>
          <a:effectLst>
            <a:outerShdw blurRad="114300" dist="38100" dir="5400000" algn="bl" rotWithShape="0">
              <a:srgbClr val="6B728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790" y="18205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75688" y="15087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去信任托管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075688" y="1892808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资金由合约保管，不靠任何平台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3258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2C2566"/>
          </a:solidFill>
        </p:spPr>
      </p:sp>
      <p:sp>
        <p:nvSpPr>
          <p:cNvPr id="9" name="Shape 6"/>
          <p:cNvSpPr/>
          <p:nvPr/>
        </p:nvSpPr>
        <p:spPr>
          <a:xfrm>
            <a:off x="6492240" y="1623060"/>
            <a:ext cx="822960" cy="822960"/>
          </a:xfrm>
          <a:prstGeom prst="ellipse">
            <a:avLst/>
          </a:prstGeom>
          <a:solidFill>
            <a:srgbClr val="0891B2"/>
          </a:solidFill>
          <a:effectLst>
            <a:outerShdw blurRad="114300" dist="38100" dir="5400000" algn="bl" rotWithShape="0">
              <a:srgbClr val="6B728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750" y="182057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70648" y="15087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链上透明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70648" y="1892808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项目、捐款、放款公开可查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68680" y="29260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2C2566"/>
          </a:solidFill>
        </p:spPr>
      </p:sp>
      <p:sp>
        <p:nvSpPr>
          <p:cNvPr id="14" name="Shape 10"/>
          <p:cNvSpPr/>
          <p:nvPr/>
        </p:nvSpPr>
        <p:spPr>
          <a:xfrm>
            <a:off x="1097280" y="3223260"/>
            <a:ext cx="822960" cy="822960"/>
          </a:xfrm>
          <a:prstGeom prst="ellipse">
            <a:avLst/>
          </a:prstGeom>
          <a:solidFill>
            <a:srgbClr val="D97706"/>
          </a:solidFill>
          <a:effectLst>
            <a:outerShdw blurRad="114300" dist="38100" dir="5400000" algn="bl" rotWithShape="0">
              <a:srgbClr val="6B728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790" y="342077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75688" y="31089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自动结算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075688" y="3493008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到期任何人可触发，结果确定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29260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2C2566"/>
          </a:solidFill>
        </p:spPr>
      </p:sp>
      <p:sp>
        <p:nvSpPr>
          <p:cNvPr id="19" name="Shape 14"/>
          <p:cNvSpPr/>
          <p:nvPr/>
        </p:nvSpPr>
        <p:spPr>
          <a:xfrm>
            <a:off x="6492240" y="3223260"/>
            <a:ext cx="822960" cy="822960"/>
          </a:xfrm>
          <a:prstGeom prst="ellipse">
            <a:avLst/>
          </a:prstGeom>
          <a:solidFill>
            <a:srgbClr val="059669"/>
          </a:solidFill>
          <a:effectLst>
            <a:outerShdw blurRad="114300" dist="38100" dir="5400000" algn="bl" rotWithShape="0">
              <a:srgbClr val="6B7280">
                <a:alpha val="1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342077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70648" y="31089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安全防护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470648" y="3493008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 + 重入锁，抵御重入攻击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4709160"/>
            <a:ext cx="112745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以智能合约取代中心化平台，实现透明、自动、安全的去中心化众筹。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谢谢！请老师批评指正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吕佳鸿   10235501436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4408</Words>
  <Application>WPS 文字</Application>
  <PresentationFormat>On-screen Show (16:9)</PresentationFormat>
  <Paragraphs>417</Paragraphs>
  <Slides>9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宋体</vt:lpstr>
      <vt:lpstr>Wingdings</vt:lpstr>
      <vt:lpstr>Calibri</vt:lpstr>
      <vt:lpstr>Helvetica Neue</vt:lpstr>
      <vt:lpstr>Calibri</vt:lpstr>
      <vt:lpstr>Calibri</vt:lpstr>
      <vt:lpstr>Calibri</vt:lpstr>
      <vt:lpstr>Courier New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区块链众筹答辩</dc:title>
  <dc:creator>吕佳鸿</dc:creator>
  <dc:subject>PptxGenJS Presentation</dc:subject>
  <cp:lastModifiedBy>吕佳鸿</cp:lastModifiedBy>
  <cp:revision>4</cp:revision>
  <dcterms:created xsi:type="dcterms:W3CDTF">2026-06-22T06:16:39Z</dcterms:created>
  <dcterms:modified xsi:type="dcterms:W3CDTF">2026-06-22T06:16:39Z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438BF03723D74A2AEED1386A5CDA93B2_42</vt:lpwstr>
  </property>
  <property fmtid="{D5CDD505-2E9C-101B-9397-08002B2CF9AE}" pid="3" name="KSOProductBuildVer">
    <vt:lpwstr>2052-6.7.1.8828</vt:lpwstr>
  </property>
</Properties>
</file>